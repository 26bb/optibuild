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GENBA SOPANRAO MOZE COLLEGE OF ENGINEERING, BALEWADI, PUNE</a:t>
            </a:r>
          </a:p>
          <a:p>
            <a:pPr algn="ctr">
              <a:defRPr sz="1100">
                <a:solidFill>
                  <a:srgbClr val="6B7280"/>
                </a:solidFill>
              </a:defRPr>
            </a:pPr>
            <a:r>
              <a:t>Department of Computer Engineering | Savitribai Phule Pune University (SPPU)</a:t>
            </a:r>
            <a:br/>
            <a:r>
              <a:t>Academic Year 2026–2027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20240"/>
            <a:ext cx="9997135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2563EB"/>
                </a:solidFill>
              </a:defRPr>
            </a:pPr>
            <a:r>
              <a:t>410248: PROJECT WORK STAGE – I (REVIEW-II PRESENTATION)</a:t>
            </a:r>
          </a:p>
          <a:p>
            <a:pPr algn="ctr">
              <a:defRPr sz="2400" b="1">
                <a:solidFill>
                  <a:srgbClr val="1E3A8A"/>
                </a:solidFill>
              </a:defRPr>
            </a:pPr>
            <a:r>
              <a:t>OptiBuild: Resource-Constrained Construction Project Scheduling</a:t>
            </a:r>
            <a:br/>
            <a:r>
              <a:t>with Statutory Delay-Penalty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827"/>
                </a:solidFill>
              </a:defRPr>
            </a:pPr>
            <a:r>
              <a:t>Project Team Members (B.E. Computer Engineering):</a:t>
            </a:r>
          </a:p>
          <a:p>
            <a:pPr algn="ctr">
              <a:spcAft>
                <a:spcPts val="1200"/>
              </a:spcAft>
              <a:defRPr sz="1300" b="1">
                <a:solidFill>
                  <a:srgbClr val="2563EB"/>
                </a:solidFill>
              </a:defRPr>
            </a:pPr>
            <a:r>
              <a:t>Bhushan V. Bhosale (4101)  •  Divyal Patel (4102)  •  Chaitanya Ghorpade (4103)  •  Aniket Jadhav (4104)</a:t>
            </a:r>
          </a:p>
          <a:p>
            <a:pPr algn="ctr">
              <a:defRPr sz="1200" i="1">
                <a:solidFill>
                  <a:srgbClr val="111827"/>
                </a:solidFill>
              </a:defRPr>
            </a:pPr>
            <a:r>
              <a:t>Under the Guidance of: Prof. [Guide Name], 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410248: PROJECT WORK STAGE – I | REVIEW-II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Presentation Outline &amp;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01. Project Context &amp; Problem Domain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Indian real estate construction delays &amp; MahaRERA Section 18 statutory liabilities.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02. Problem Statement &amp; Locked Guardrails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Formal RCPSP problem formulation, NP-hardness, and strict viva boundaries.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03. SMART Project Objectives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5 measurable targets spanning CPM, GA, CP-SAT, Penalty Engine, and MobileNetV2.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04. Comprehensive Literature Survey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Synthesis of 22 peer-reviewed papers across 5 functional optimization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1089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05. Comparative Analysis Matrix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Benchmarking existing systems (Primavera, Procore, Research GAs) vs. OptiBuild.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06. System Architecture &amp; The Hero Module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Unified dataflow connecting NetworkX CPM, DEAP GA, OR-Tools CP-SAT, and CV.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07. Mathematical Model &amp; Formulation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SPPU 7-Tuple Set Theory, CPM forward/backward passes, and crash slope arbitration.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7548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08. Implementation Status &amp; Passing Tests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Current progress with 14/14 automated Pytest unit and integration tests passing.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75488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09. Modular Team Division &amp; Viva Defense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Clear academic ownership split for Divyal, Chaitanya, Bhushan, and Aniket.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410248: PROJECT WORK STAGE – I | REVIEW-II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Project Background &amp; Real-World Domain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E3A8A"/>
                </a:solidFill>
              </a:defRPr>
            </a:pPr>
            <a:r>
              <a:t>The Indian Construction Delay Crisis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70%+ Overruns: </a:t>
            </a:r>
            <a:r>
              <a:rPr sz="1100">
                <a:solidFill>
                  <a:srgbClr val="6B7280"/>
                </a:solidFill>
              </a:rPr>
              <a:t>Empirical civil research (Doloi et al., 2012) reveals over 70% of multi-story projects in India exceed contracted completion baselines.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Multi-Crore Capital At Stake: </a:t>
            </a:r>
            <a:r>
              <a:rPr sz="1100">
                <a:solidFill>
                  <a:srgbClr val="6B7280"/>
                </a:solidFill>
              </a:rPr>
              <a:t>Projects accrue tens or hundreds of crores in buyer advances. Project managers lack dynamic algorithmic rescheduling tools.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11827"/>
                </a:solidFill>
              </a:rPr>
              <a:t>• Static Tools Fail: </a:t>
            </a:r>
            <a:r>
              <a:rPr sz="1100">
                <a:solidFill>
                  <a:srgbClr val="6B7280"/>
                </a:solidFill>
              </a:rPr>
              <a:t>Commercial software (Primavera P6, MS Project) only produces manual bar charts; they cannot automatically balance crashing costs against delay penalties.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E3A8A"/>
                </a:solidFill>
              </a:defRPr>
            </a:pPr>
            <a:r>
              <a:t>MahaRERA Section 18: Mandatory Legal Liability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3A8A"/>
                </a:solidFill>
              </a:rPr>
              <a:t>• Statutory Interest Mandate: </a:t>
            </a:r>
            <a:r>
              <a:rPr sz="1100">
                <a:solidFill>
                  <a:srgbClr val="111827"/>
                </a:solidFill>
              </a:rPr>
              <a:t>Builders who exceed registered deadlines must compensate homebuyers monthly interest at SBI Highest MCLR + 2% per annum on total collected funds.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3A8A"/>
                </a:solidFill>
              </a:rPr>
              <a:t>• The Mathematical Equation: </a:t>
            </a:r>
            <a:r>
              <a:rPr sz="1100">
                <a:solidFill>
                  <a:srgbClr val="111827"/>
                </a:solidFill>
              </a:rPr>
              <a:t>Penalty = Amount Collected × (SBI MCLR + 2%) × (Delay Days / 365). Daily accumulation routinely exceeds tens of thousands of rupees.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3A8A"/>
                </a:solidFill>
              </a:rPr>
              <a:t>• The OptiBuild Solution: </a:t>
            </a:r>
            <a:r>
              <a:rPr sz="1100">
                <a:solidFill>
                  <a:srgbClr val="111827"/>
                </a:solidFill>
              </a:rPr>
              <a:t>Algorithmic decision engine that computes activity crash slopes vs. statutory penalties to guide builders whether to crash critical tasks or accept the penalty.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410248: PROJECT WORK STAGE – I | REVIEW-II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Literature Survey &amp; Comparative Analysis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005840"/>
                <a:gridCol w="1005840"/>
                <a:gridCol w="1005840"/>
                <a:gridCol w="1005840"/>
                <a:gridCol w="2681935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Paper / Author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Methodology / 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TCTP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Penalty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Exact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Research Void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Hartmann (1998)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Permutation GA + SSGS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Makespan only; no financial crash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Leu &amp; Yang (1999)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Multi-Criteria GA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Two-stage leveling risks local optima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Hegazy (1999)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Discrete TCTP 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Omits renewable crew capacity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Li &amp; Love (1997)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Adaptive Penalty GA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Uses arbitrary non-legal penalty weights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Schutt et al. (2013)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Lazy Clause Gen. (LCG)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Theoretical; no business penalty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Sonmez (2011)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Hybrid GA + B&amp;B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Combinatorial explosion on &gt;100 tasks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Doloi et al. (2012)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Regression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Diagnostic survey; no scheduling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Jain &amp; Prakash (2023)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Linear Programming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Yes*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Static case study; lacks rescheduling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827"/>
                          </a:solidFill>
                        </a:defRPr>
                      </a:pPr>
                      <a:r>
                        <a:t>Rashidi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MobileNetV2 on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</a:defRPr>
                      </a:pPr>
                      <a:r>
                        <a:t>Isolated vision; decoupled from CPM/GA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</a:defRPr>
                      </a:pPr>
                      <a:r>
                        <a:t>OptiBuild (Proposed)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</a:defRPr>
                      </a:pPr>
                      <a:r>
                        <a:t>DEAP GA + CP-SAT + CV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</a:defRPr>
                      </a:pPr>
                      <a:r>
                        <a:t>Yes**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3A8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</a:defRPr>
                      </a:pPr>
                      <a:r>
                        <a:t>Unified: RCPSP + MahaRERA + Vision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410248: PROJECT WORK STAGE – I | REVIEW-II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Proposed Architecture: The OptiBuild Hero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1. CPM Precedence DAG Engine  </a:t>
            </a:r>
            <a:r>
              <a:rPr b="1" sz="1000">
                <a:solidFill>
                  <a:srgbClr val="2563EB"/>
                </a:solidFill>
              </a:rPr>
              <a:t>[NetworkX Directed Acyclic Graph]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Traverses topological task dependencies, computes Early/Late passes, and isolates critical float in ≤ 50 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2. Resource-Constrained GA  </a:t>
            </a:r>
            <a:r>
              <a:rPr b="1" sz="1000">
                <a:solidFill>
                  <a:srgbClr val="2563EB"/>
                </a:solidFill>
              </a:rPr>
              <a:t>[DEAP Heuristic Scheduling]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Chromosome permutations decoded via Serial Schedule Generation Scheme (SSGS) to enforce renewable crew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3. CP-SAT Benchmark Validator  </a:t>
            </a:r>
            <a:r>
              <a:rPr b="1" sz="1000">
                <a:solidFill>
                  <a:srgbClr val="2563EB"/>
                </a:solidFill>
              </a:rPr>
              <a:t>[Google OR-Tools Exact Solver]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Employs interval decision variables and AddCumulative global constraints to measure the empirical GA optimality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4. MahaRERA Penalty Optimizer  </a:t>
            </a:r>
            <a:r>
              <a:rPr b="1" sz="1000">
                <a:solidFill>
                  <a:srgbClr val="2563EB"/>
                </a:solidFill>
              </a:rPr>
              <a:t>[Statutory Delay Decision Engine]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Evaluates activity crash slope (Si) vs. SBI MCLR + 2% interest penalties to formulate concrete build acceleration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5. Edge Vision Progress Verification  </a:t>
            </a:r>
            <a:r>
              <a:rPr b="1" sz="1000">
                <a:solidFill>
                  <a:srgbClr val="2563EB"/>
                </a:solidFill>
              </a:rPr>
              <a:t>[PyTorch MobileNetV2 Classifier]</a:t>
            </a:r>
          </a:p>
          <a:p>
            <a:pPr>
              <a:defRPr sz="950">
                <a:solidFill>
                  <a:srgbClr val="6B7280"/>
                </a:solidFill>
              </a:defRPr>
            </a:pPr>
            <a:r>
              <a:t>Provides fast binary inference (&lt; 45 ms) distinguishing Structural from Finishing phases with human review fallback.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410248: PROJECT WORK STAGE – I | REVIEW-II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Mathematical Model (SPPU 7-Tuple Set Theory)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System Formal Definition:  S = { I, O, F, DD, NDD, S_success, S_failure }</a:t>
            </a:r>
          </a:p>
          <a:p>
            <a:pPr>
              <a:defRPr sz="1000">
                <a:solidFill>
                  <a:srgbClr val="111827"/>
                </a:solidFill>
              </a:defRPr>
            </a:pPr>
            <a:r>
              <a:t>Inputs (I): User config (Uc), Project constraints (Creq), Task parameters (Pparams)  |  Outputs (O): Optimized schedule (Ropt), Benchmark metrics (Meval)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1. Critical Path Method (CPM)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ES_i = max(EF_p),  EF_i = ES_i + d_i</a:t>
            </a:r>
            <a:br/>
            <a:r>
              <a:t>LF_i = min(LS_s),  LS_i = LF_i - d_i</a:t>
            </a:r>
            <a:br/>
            <a:r>
              <a:t>Total Float: TF_i = LS_i - ES_i</a:t>
            </a:r>
            <a:br/>
            <a:r>
              <a:t>Critical Chain: TF_i =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65176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2. RCPSP Resource Limit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Daily Crew Demand Bound:</a:t>
            </a:r>
            <a:br/>
            <a:r>
              <a:t>sum_{i in Active(t)} r_{i,k} &lt;= R_{k,max}</a:t>
            </a:r>
            <a:br/>
            <a:r>
              <a:t>for all renewable crew types k</a:t>
            </a:r>
            <a:br/>
            <a:r>
              <a:t>across all days t in [0, 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65176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3. MahaRERA Statutory Penalty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Penalty_RERA = Amount Collected ×</a:t>
            </a:r>
            <a:br/>
            <a:r>
              <a:t>(SBI MCLR + 2%) × (Delay Days / 365)</a:t>
            </a:r>
            <a:br/>
            <a:r>
              <a:t>Accrues daily interest liability</a:t>
            </a:r>
            <a:br/>
            <a:r>
              <a:t>payable to homebuyers on default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65176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4. Activity Crash Cost Slope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Cost Slope: S_i = (C_c - C_n) / (D_n - D_c)</a:t>
            </a:r>
            <a:br/>
            <a:r>
              <a:t>Decision Engine Rule:</a:t>
            </a:r>
            <a:br/>
            <a:r>
              <a:t>If sum(S_i × Δd_i) &lt; Penalty_RERA</a:t>
            </a:r>
            <a:br/>
            <a:r>
              <a:t>=&gt; CRASH TASK; Else ACCEPT PENALTY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410248: PROJECT WORK STAGE – I | REVIEW-II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Team Member Modular Division &amp; Viva Defense Split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Divyal Patel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</a:defRPr>
            </a:pPr>
            <a:r>
              <a:t>Optimization Lead</a:t>
            </a:r>
          </a:p>
          <a:p>
            <a:pPr>
              <a:spcAft>
                <a:spcPts val="1000"/>
              </a:spcAft>
              <a:defRPr sz="900" i="1">
                <a:solidFill>
                  <a:srgbClr val="6B7280"/>
                </a:solidFill>
              </a:defRPr>
            </a:pPr>
            <a:r>
              <a:t>Owned Codebase:</a:t>
            </a:r>
            <a:br/>
            <a:r>
              <a:t>app/engine/cpm/</a:t>
            </a:r>
            <a:br/>
            <a:r>
              <a:t>app/engine/ga/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CPM Precedence DAG (NetworkX), DEAP Genetic Algorithm chromosome encoding, crossover/mutation operators, and Serial Schedule Generation Scheme (SSGS).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Chaitanya Ghorpade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</a:defRPr>
            </a:pPr>
            <a:r>
              <a:t>Benchmark Lead</a:t>
            </a:r>
          </a:p>
          <a:p>
            <a:pPr>
              <a:spcAft>
                <a:spcPts val="1000"/>
              </a:spcAft>
              <a:defRPr sz="900" i="1">
                <a:solidFill>
                  <a:srgbClr val="6B7280"/>
                </a:solidFill>
              </a:defRPr>
            </a:pPr>
            <a:r>
              <a:t>Owned Codebase:</a:t>
            </a:r>
            <a:br/>
            <a:r>
              <a:t>app/engine/cpsat/</a:t>
            </a:r>
            <a:br/>
            <a:r>
              <a:t>app/engine/benchmark/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Google OR-Tools CP-SAT exact solver modeling, AddCumulative global constraints, and mathematical optimality gap calculation vs. heuristic 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Bhushan Bhosale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</a:defRPr>
            </a:pPr>
            <a:r>
              <a:t>Financial Optimizer</a:t>
            </a:r>
          </a:p>
          <a:p>
            <a:pPr>
              <a:spcAft>
                <a:spcPts val="1000"/>
              </a:spcAft>
              <a:defRPr sz="900" i="1">
                <a:solidFill>
                  <a:srgbClr val="6B7280"/>
                </a:solidFill>
              </a:defRPr>
            </a:pPr>
            <a:r>
              <a:t>Owned Codebase:</a:t>
            </a:r>
            <a:br/>
            <a:r>
              <a:t>app/engine/penalty/</a:t>
            </a:r>
            <a:br/>
            <a:r>
              <a:t>research/ &amp; docs/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MahaRERA Section 18 penalty computation (SBI MCLR + 2%), activity crash slope tradeoff engine, architecture specifications, and SPPU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Aniket Jadhav</a:t>
            </a:r>
          </a:p>
          <a:p>
            <a:pPr>
              <a:spcAft>
                <a:spcPts val="600"/>
              </a:spcAft>
              <a:defRPr sz="1050" b="1">
                <a:solidFill>
                  <a:srgbClr val="2563EB"/>
                </a:solidFill>
              </a:defRPr>
            </a:pPr>
            <a:r>
              <a:t>Full-Stack &amp; CV Lead</a:t>
            </a:r>
          </a:p>
          <a:p>
            <a:pPr>
              <a:spcAft>
                <a:spcPts val="1000"/>
              </a:spcAft>
              <a:defRPr sz="900" i="1">
                <a:solidFill>
                  <a:srgbClr val="6B7280"/>
                </a:solidFill>
              </a:defRPr>
            </a:pPr>
            <a:r>
              <a:t>Owned Codebase:</a:t>
            </a:r>
            <a:br/>
            <a:r>
              <a:t>app/backend/</a:t>
            </a:r>
            <a:br/>
            <a:r>
              <a:t>app/cv/ &amp; frontend/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FastAPI REST API routes, Next.js interactive Gantt chart dashboard, and PyTorch MobileNetV2 binary progress verification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410248: PROJECT WORK STAGE – I | REVIEW-II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Current Implementation Status &amp; Verified Test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PASS: CPM &amp; GA Engine  </a:t>
            </a:r>
            <a:r>
              <a:rPr sz="950">
                <a:solidFill>
                  <a:srgbClr val="2563EB"/>
                </a:solidFill>
              </a:rPr>
              <a:t>[app/engine/cpm/ &amp; ga/]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Verified forward/backward pass &amp; DEAP permutation chromosomes on 20-activity RCC benchmark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6304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PASS: OR-Tools CP-SAT  </a:t>
            </a:r>
            <a:r>
              <a:rPr sz="950">
                <a:solidFill>
                  <a:srgbClr val="2563EB"/>
                </a:solidFill>
              </a:rPr>
              <a:t>[app/engine/cpsat/]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Exact solver modeling complete with AddCumulative constraints to measure empirical optimality gap.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PASS: MahaRERA Penalty Engine  </a:t>
            </a:r>
            <a:r>
              <a:rPr sz="950">
                <a:solidFill>
                  <a:srgbClr val="2563EB"/>
                </a:solidFill>
              </a:rPr>
              <a:t>[app/engine/penalty/]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Accurately compares SBI MCLR + 2% interest penalties against critical-path crash slopes.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78892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PASS: FastAPI Backend  </a:t>
            </a:r>
            <a:r>
              <a:rPr sz="950">
                <a:solidFill>
                  <a:srgbClr val="2563EB"/>
                </a:solidFill>
              </a:rPr>
              <a:t>[app/backend/routers/]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REST API routes verified for projects, tasks, schedule optimization, and progress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PASS: MobileNetV2 Classifier  </a:t>
            </a:r>
            <a:r>
              <a:rPr sz="950">
                <a:solidFill>
                  <a:srgbClr val="2563EB"/>
                </a:solidFill>
              </a:rPr>
              <a:t>[app/cv/]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Transfer learning pipeline configured for Structural vs. Finishing phase binary image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14800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b="1" sz="1200">
                <a:solidFill>
                  <a:srgbClr val="1E3A8A"/>
                </a:solidFill>
              </a:rPr>
              <a:t>PASS: SPPU Deliverables  </a:t>
            </a:r>
            <a:r>
              <a:rPr sz="950">
                <a:solidFill>
                  <a:srgbClr val="2563EB"/>
                </a:solidFill>
              </a:rPr>
              <a:t>[docs/ &amp; research/]</a:t>
            </a:r>
          </a:p>
          <a:p>
            <a:pPr>
              <a:defRPr sz="950">
                <a:solidFill>
                  <a:srgbClr val="111827"/>
                </a:solidFill>
              </a:defRPr>
            </a:pPr>
            <a:r>
              <a:t>Stage-1 Synopsis, Report Chapter 2, IEEE conference paper draft, and Overleaf ZIP 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66534"/>
                </a:solidFill>
              </a:rPr>
              <a:t>Automated Pytest Suite Status:  14 Passed, 0 Failed, 100% Green  (Execution Time: ~21s)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4095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32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pPr algn="ctr">
              <a:spcAft>
                <a:spcPts val="1600"/>
              </a:spcAft>
              <a:defRPr sz="1600" b="1">
                <a:solidFill>
                  <a:srgbClr val="2563EB"/>
                </a:solidFill>
              </a:defRPr>
            </a:pPr>
            <a:r>
              <a:t>OptiBuild: Resource-Constrained Construction Project Scheduling</a:t>
            </a:r>
            <a:br/>
            <a:r>
              <a:t>with Statutory Delay-Penalty Optimization</a:t>
            </a:r>
          </a:p>
          <a:p>
            <a:pPr algn="ctr">
              <a:defRPr sz="1400" i="1">
                <a:solidFill>
                  <a:srgbClr val="111827"/>
                </a:solidFill>
              </a:defRPr>
            </a:pPr>
            <a:r>
              <a:t>Questions &amp; Technical Discussion Invited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